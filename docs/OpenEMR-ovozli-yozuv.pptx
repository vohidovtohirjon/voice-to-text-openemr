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E6B58"/>
                </a:solidFill>
                <a:latin typeface="Helvetica Neue"/>
              </a:rPr>
              <a:t>OPENEMR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5400" b="1">
                <a:solidFill>
                  <a:srgbClr val="131E19"/>
                </a:solidFill>
                <a:latin typeface="Helvetica Neue"/>
              </a:rPr>
              <a:t>Ovozli tibbiy yozuv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0">
                <a:solidFill>
                  <a:srgbClr val="6E7D76"/>
                </a:solidFill>
                <a:latin typeface="Helvetica Neue"/>
              </a:rPr>
              <a:t>Shifokor gapiradi, forma to'ladi.</a:t>
            </a:r>
          </a:p>
          <a:p>
            <a:pPr algn="l">
              <a:spcAft>
                <a:spcPts val="700"/>
              </a:spcAft>
            </a:pPr>
            <a:r>
              <a:rPr sz="2200" b="0">
                <a:solidFill>
                  <a:srgbClr val="6E7D76"/>
                </a:solidFill>
                <a:latin typeface="Helvetica Neue"/>
              </a:rPr>
              <a:t>Hamma narsa kompyuterning o'zida ishlaydi.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31E19"/>
                </a:solidFill>
                <a:latin typeface="Helvetica Neue"/>
              </a:rPr>
              <a:t>Tohirjon Vohidov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300" b="1">
                <a:solidFill>
                  <a:srgbClr val="131E19"/>
                </a:solidFill>
                <a:latin typeface="Helvetica Neue"/>
              </a:rPr>
              <a:t>Natija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16736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Bitta dikta, to'liq to'ldirilgan encounter formasi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24688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64008" cy="192024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263347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4000" b="1">
                <a:solidFill>
                  <a:srgbClr val="0E6B58"/>
                </a:solidFill>
                <a:latin typeface="Helvetica Neu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3401568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maydon bitta diktadan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286000"/>
            <a:ext cx="24688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286000"/>
            <a:ext cx="64008" cy="192024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263347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4000" b="1">
                <a:solidFill>
                  <a:srgbClr val="0E6B58"/>
                </a:solidFill>
                <a:latin typeface="Helvetica Neue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3401568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dori nomlari to'g'ri tanildi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286000"/>
            <a:ext cx="24688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64008" cy="192024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63347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4000" b="1">
                <a:solidFill>
                  <a:srgbClr val="0E6B58"/>
                </a:solidFill>
                <a:latin typeface="Helvetica Neue"/>
              </a:rPr>
              <a:t>30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3401568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tahlil vaqti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2286000"/>
            <a:ext cx="24688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2286000"/>
            <a:ext cx="64008" cy="192024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7152" y="263347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4000" b="1">
                <a:solidFill>
                  <a:srgbClr val="0E6B58"/>
                </a:solidFill>
                <a:latin typeface="Helvetica Neue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3401568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bulutga yuborilgan ma'lumot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463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31E19"/>
                </a:solidFill>
                <a:latin typeface="Helvetica Neue"/>
              </a:rPr>
              <a:t>SOAP bo'limlari, ko'rsatkichlar va tashxis kodi bir marta gapirishdan to'ladi.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31E19"/>
                </a:solidFill>
                <a:latin typeface="Helvetica Neue"/>
              </a:rPr>
              <a:t>Shifokor tasdiqlamaguncha kartaga hech narsa yozilmaydi.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300" b="1">
                <a:solidFill>
                  <a:srgbClr val="131E19"/>
                </a:solidFill>
                <a:latin typeface="Helvetica Neue"/>
              </a:rPr>
              <a:t>Qanday ishlaydi</a:t>
            </a:r>
          </a:p>
        </p:txBody>
      </p:sp>
      <p:pic>
        <p:nvPicPr>
          <p:cNvPr id="4" name="Picture 3" descr="1-arxitek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1874519"/>
            <a:ext cx="757123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2179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Ovoz ham, matn ham shu kompyuterdan chiqmaydi.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300" b="1">
                <a:solidFill>
                  <a:srgbClr val="131E19"/>
                </a:solidFill>
                <a:latin typeface="Helvetica Neue"/>
              </a:rPr>
              <a:t>Eng qiyin masala: dori nomlari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16736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Modelni qayta o'qitish oylab vaqt olardi. Dekoderni sozlab hal qildim.</a:t>
            </a:r>
          </a:p>
        </p:txBody>
      </p:sp>
      <p:pic>
        <p:nvPicPr>
          <p:cNvPr id="5" name="Picture 4" descr="5-dori-tuzat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08" y="2011680"/>
            <a:ext cx="805450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300" b="1">
                <a:solidFill>
                  <a:srgbClr val="131E19"/>
                </a:solidFill>
                <a:latin typeface="Helvetica Neue"/>
              </a:rPr>
              <a:t>Nega shunday qurdim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106070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64008" cy="114300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31343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31E19"/>
                </a:solidFill>
                <a:latin typeface="Helvetica Neue"/>
              </a:rPr>
              <a:t>Bulut o'rniga lokal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7523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6E7D76"/>
                </a:solidFill>
                <a:latin typeface="Helvetica Neue"/>
              </a:rPr>
              <a:t>Bulutli xizmatlar biroz aniqroq tanirdi, lekin bemor ovozi tashqariga chiqardi.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20440"/>
            <a:ext cx="106070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64008" cy="114300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68503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31E19"/>
                </a:solidFill>
                <a:latin typeface="Helvetica Neue"/>
              </a:rPr>
              <a:t>Qayta o'qitish o'rniga sozlash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1239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6E7D76"/>
                </a:solidFill>
                <a:latin typeface="Helvetica Neue"/>
              </a:rPr>
              <a:t>O'qitish oylab vaqt va katta ma'lumot talab qilardi. Sozlash bilan 62 dan 88 foizga chiqdim.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92040"/>
            <a:ext cx="106070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892040"/>
            <a:ext cx="64008" cy="114300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5056631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31E19"/>
                </a:solidFill>
                <a:latin typeface="Helvetica Neue"/>
              </a:rPr>
              <a:t>Til modeli o'rniga oddiy usul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54955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6E7D76"/>
                </a:solidFill>
                <a:latin typeface="Helvetica Neue"/>
              </a:rPr>
              <a:t>Tashxis kodiga til modeli qo'yish mumkin edi. Oddiy usul tezroq ishladi va qaysi so'z sabab bo'lganini ko'rsatadi.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05007"/>
                </a:solidFill>
                <a:latin typeface="Helvetica Neue"/>
              </a:rPr>
              <a:t>Har bir tanlovda tezlik va tushuntirib bera olish muhimroq bo'ldi.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300" b="1">
                <a:solidFill>
                  <a:srgbClr val="131E19"/>
                </a:solidFill>
                <a:latin typeface="Helvetica Neue"/>
              </a:rPr>
              <a:t>Ishonchlilik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33832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64008" cy="219456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63347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800" b="1">
                <a:solidFill>
                  <a:srgbClr val="0E6B58"/>
                </a:solidFill>
                <a:latin typeface="Helvetica Neue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364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31E19"/>
                </a:solidFill>
                <a:latin typeface="Helvetica Neue"/>
              </a:rPr>
              <a:t>avtomatik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7673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Bir marta tuzatilgan xato qaytib kelmaydi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3832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2286000"/>
            <a:ext cx="64008" cy="219456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263347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800" b="1">
                <a:solidFill>
                  <a:srgbClr val="0E6B58"/>
                </a:solidFill>
                <a:latin typeface="Helvetica Neue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3364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31E19"/>
                </a:solidFill>
                <a:latin typeface="Helvetica Neue"/>
              </a:rPr>
              <a:t>shifokor nazorati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37673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Past ishonchli taklif o'zi yoqilmaydi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286000"/>
            <a:ext cx="33832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2286000"/>
            <a:ext cx="64008" cy="219456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263347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800" b="1">
                <a:solidFill>
                  <a:srgbClr val="0E6B58"/>
                </a:solidFill>
                <a:latin typeface="Helvetica Neue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364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31E19"/>
                </a:solidFill>
                <a:latin typeface="Helvetica Neue"/>
              </a:rPr>
              <a:t>ma'lumot sizishi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37673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Audio ham, matn ham qurilmada qoladi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31E19"/>
                </a:solidFill>
                <a:latin typeface="Helvetica Neue"/>
              </a:rPr>
              <a:t>Ovozdan formagacha bo'lgan butun yo'l tayyor va sinovdan o'tgan.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E6B58"/>
                </a:solidFill>
                <a:latin typeface="Helvetica Neue"/>
              </a:rPr>
              <a:t>github.com/VohidovTohirjon/voice-to-text-openemr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