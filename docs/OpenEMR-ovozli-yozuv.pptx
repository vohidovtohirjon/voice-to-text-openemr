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574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6B58"/>
                </a:solidFill>
                <a:latin typeface="Helvetica Neue"/>
              </a:rPr>
              <a:t>OPENEMR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14600"/>
            <a:ext cx="106070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131E19"/>
                </a:solidFill>
                <a:latin typeface="Helvetica Neue"/>
              </a:rPr>
              <a:t>Ovozli tibbiy yozuv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9476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6E7D76"/>
                </a:solidFill>
                <a:latin typeface="Helvetica Neue"/>
              </a:rPr>
              <a:t>Shifokor gapiradi, forma to'ladi.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6E7D76"/>
                </a:solidFill>
                <a:latin typeface="Helvetica Neue"/>
              </a:rPr>
              <a:t>Hamma narsa kompyuterning o'zida ishlaydi.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7607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31E19"/>
                </a:solidFill>
                <a:latin typeface="Helvetica Neue"/>
              </a:rPr>
              <a:t>Tohirjon Vohidov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31E19"/>
                </a:solidFill>
                <a:latin typeface="Helvetica Neue"/>
              </a:rPr>
              <a:t>Nima qilindi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E7D76"/>
                </a:solidFill>
                <a:latin typeface="Helvetica Neue"/>
              </a:rPr>
              <a:t>Bitta dikta, to'liq to'ldirilgan encounter formasi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94560"/>
            <a:ext cx="246888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94560"/>
            <a:ext cx="64008" cy="1828800"/>
          </a:xfrm>
          <a:prstGeom prst="roundRect">
            <a:avLst/>
          </a:prstGeom>
          <a:solidFill>
            <a:srgbClr val="0E6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E6B58"/>
                </a:solidFill>
                <a:latin typeface="Helvetica Neue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7D76"/>
                </a:solidFill>
                <a:latin typeface="Helvetica Neue"/>
              </a:rPr>
              <a:t>maydon bitta diktadan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194560"/>
            <a:ext cx="246888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2194560"/>
            <a:ext cx="64008" cy="1828800"/>
          </a:xfrm>
          <a:prstGeom prst="roundRect">
            <a:avLst/>
          </a:prstGeom>
          <a:solidFill>
            <a:srgbClr val="0E6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251460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E6B58"/>
                </a:solidFill>
                <a:latin typeface="Helvetica Neue"/>
              </a:rPr>
              <a:t>88%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24612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7D76"/>
                </a:solidFill>
                <a:latin typeface="Helvetica Neue"/>
              </a:rPr>
              <a:t>dori nomlari to'g'ri tanildi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194560"/>
            <a:ext cx="246888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2194560"/>
            <a:ext cx="64008" cy="1828800"/>
          </a:xfrm>
          <a:prstGeom prst="roundRect">
            <a:avLst/>
          </a:prstGeom>
          <a:solidFill>
            <a:srgbClr val="0E6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51460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E6B58"/>
                </a:solidFill>
                <a:latin typeface="Helvetica Neue"/>
              </a:rPr>
              <a:t>30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24612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7D76"/>
                </a:solidFill>
                <a:latin typeface="Helvetica Neue"/>
              </a:rPr>
              <a:t>tahlil vaqti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2194560"/>
            <a:ext cx="246888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69680" y="2194560"/>
            <a:ext cx="64008" cy="1828800"/>
          </a:xfrm>
          <a:prstGeom prst="roundRect">
            <a:avLst/>
          </a:prstGeom>
          <a:solidFill>
            <a:srgbClr val="A05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251460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A05007"/>
                </a:solidFill>
                <a:latin typeface="Helvetica Neue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324612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7D76"/>
                </a:solidFill>
                <a:latin typeface="Helvetica Neue"/>
              </a:rPr>
              <a:t>ma'lumot bulutga chiqdi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61772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131E19"/>
                </a:solidFill>
                <a:latin typeface="Helvetica Neue"/>
              </a:rPr>
              <a:t>SOAP bo'limlari, ko'rsatkichlar va tashxis kodi bir marta gapirishdan to'ldi.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131E19"/>
                </a:solidFill>
                <a:latin typeface="Helvetica Neue"/>
              </a:rPr>
              <a:t>Shifokor tasdiqlamaguncha kartaga hech narsa yozilmaydi.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31E19"/>
                </a:solidFill>
                <a:latin typeface="Helvetica Neue"/>
              </a:rPr>
              <a:t>Arxitektura</a:t>
            </a:r>
          </a:p>
        </p:txBody>
      </p:sp>
      <p:pic>
        <p:nvPicPr>
          <p:cNvPr id="4" name="Picture 3" descr="1-arxitek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847" y="1874519"/>
            <a:ext cx="7735824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E7D76"/>
                </a:solidFill>
                <a:latin typeface="Helvetica Neue"/>
              </a:rPr>
              <a:t>Uzuq chiziqdan tashqariga na ovoz, na matn chiqadi.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31E19"/>
                </a:solidFill>
                <a:latin typeface="Helvetica Neue"/>
              </a:rPr>
              <a:t>Sakkiz qatlam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E7D76"/>
                </a:solidFill>
                <a:latin typeface="Helvetica Neue"/>
              </a:rPr>
              <a:t>Ikkitasi neyron tarmoq, qolgani oddiy algoritm</a:t>
            </a:r>
          </a:p>
        </p:txBody>
      </p:sp>
      <p:pic>
        <p:nvPicPr>
          <p:cNvPr id="5" name="Picture 4" descr="2-qatlam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352" y="1965960"/>
            <a:ext cx="7754815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31E19"/>
                </a:solidFill>
                <a:latin typeface="Helvetica Neue"/>
              </a:rPr>
              <a:t>Eng qiyin masala: dori nomlari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E7D76"/>
                </a:solidFill>
                <a:latin typeface="Helvetica Neue"/>
              </a:rPr>
              <a:t>Modelni qayta o'qitish oylab vaqt olardi. Dekoderni sozlash bilan hal qildim.</a:t>
            </a:r>
          </a:p>
        </p:txBody>
      </p:sp>
      <p:pic>
        <p:nvPicPr>
          <p:cNvPr id="5" name="Picture 4" descr="5-dori-tuzat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508" y="2011680"/>
            <a:ext cx="805450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31E19"/>
                </a:solidFill>
                <a:latin typeface="Helvetica Neue"/>
              </a:rPr>
              <a:t>Tizim qachon ishonmasligini biladi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E7D76"/>
                </a:solidFill>
                <a:latin typeface="Helvetica Neue"/>
              </a:rPr>
              <a:t>Uchta mustaqil nazorat. Birortasi ishlasa, shifokor tekshiradi.</a:t>
            </a:r>
          </a:p>
        </p:txBody>
      </p:sp>
      <p:pic>
        <p:nvPicPr>
          <p:cNvPr id="5" name="Picture 4" descr="3-gallyutsinatsi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451" y="2011680"/>
            <a:ext cx="8652616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31E19"/>
                </a:solidFill>
                <a:latin typeface="Helvetica Neue"/>
              </a:rPr>
              <a:t>“Og'riq yo'q” degani ham ma'lumot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E7D76"/>
                </a:solidFill>
                <a:latin typeface="Helvetica Neue"/>
              </a:rPr>
              <a:t>Inkorni tushunmagan tizim bemorga yo'q kasallik kodini yozadi</a:t>
            </a:r>
          </a:p>
        </p:txBody>
      </p:sp>
      <p:pic>
        <p:nvPicPr>
          <p:cNvPr id="5" name="Picture 4" descr="4-inkor-kodl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045" y="2011680"/>
            <a:ext cx="8817428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31E19"/>
                </a:solidFill>
                <a:latin typeface="Helvetica Neue"/>
              </a:rPr>
              <a:t>Nega shunday qurdim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03120"/>
            <a:ext cx="1060704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64008" cy="1097280"/>
          </a:xfrm>
          <a:prstGeom prst="roundRect">
            <a:avLst/>
          </a:prstGeom>
          <a:solidFill>
            <a:srgbClr val="0E6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4942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31E19"/>
                </a:solidFill>
                <a:latin typeface="Helvetica Neue"/>
              </a:rPr>
              <a:t>Bulut o'rniga lokal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7004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E7D76"/>
                </a:solidFill>
                <a:latin typeface="Helvetica Neue"/>
              </a:rPr>
              <a:t>Bulutli xizmatlar biroz aniqroq tanirdi, lekin bemor ovozi tashqariga chiqardi.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429000"/>
            <a:ext cx="1060704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3429000"/>
            <a:ext cx="64008" cy="1097280"/>
          </a:xfrm>
          <a:prstGeom prst="roundRect">
            <a:avLst/>
          </a:prstGeom>
          <a:solidFill>
            <a:srgbClr val="0E6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57530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31E19"/>
                </a:solidFill>
                <a:latin typeface="Helvetica Neue"/>
              </a:rPr>
              <a:t>Qayta o'qitish o'rniga dekoder sozlash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9592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E7D76"/>
                </a:solidFill>
                <a:latin typeface="Helvetica Neue"/>
              </a:rPr>
              <a:t>Model o'qitish oylab vaqt va katta ma'lumot talab qilardi. Sozlash bilan 62 dan 88 foizga chiqdim.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754879"/>
            <a:ext cx="1060704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4754879"/>
            <a:ext cx="64008" cy="1097280"/>
          </a:xfrm>
          <a:prstGeom prst="roundRect">
            <a:avLst/>
          </a:prstGeom>
          <a:solidFill>
            <a:srgbClr val="0E6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901183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31E19"/>
                </a:solidFill>
                <a:latin typeface="Helvetica Neue"/>
              </a:rPr>
              <a:t>Til modeli o'rniga oddiy usul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321807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E7D76"/>
                </a:solidFill>
                <a:latin typeface="Helvetica Neue"/>
              </a:rPr>
              <a:t>Tashxis kodiga til modeli qo'yish mumkin edi. Oddiy usul tezroq ishladi va qaysi so'z sabab bo'lganini ko'rsatadi.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1722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A05007"/>
                </a:solidFill>
                <a:latin typeface="Helvetica Neue"/>
              </a:rPr>
              <a:t>Har bir tanlovda tezlik va tushuntirib bera olish muhimroq bo'ldi.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31E19"/>
                </a:solidFill>
                <a:latin typeface="Helvetica Neue"/>
              </a:rPr>
              <a:t>Ishonchlilik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94560"/>
            <a:ext cx="338328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94560"/>
            <a:ext cx="64008" cy="2286000"/>
          </a:xfrm>
          <a:prstGeom prst="roundRect">
            <a:avLst/>
          </a:prstGeom>
          <a:solidFill>
            <a:srgbClr val="0E6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56032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0E6B58"/>
                </a:solidFill>
                <a:latin typeface="Helvetica Neue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291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31E19"/>
                </a:solidFill>
                <a:latin typeface="Helvetica Neue"/>
              </a:rPr>
              <a:t>avtomatik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7033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7D76"/>
                </a:solidFill>
                <a:latin typeface="Helvetica Neue"/>
              </a:rPr>
              <a:t>Har biri topilgan xatoni qaytishidan saqlaydi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94560"/>
            <a:ext cx="338328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2194560"/>
            <a:ext cx="64008" cy="2286000"/>
          </a:xfrm>
          <a:prstGeom prst="roundRect">
            <a:avLst/>
          </a:prstGeom>
          <a:solidFill>
            <a:srgbClr val="0E6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56032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0E6B58"/>
                </a:solidFill>
                <a:latin typeface="Helvetica Neue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291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31E19"/>
                </a:solidFill>
                <a:latin typeface="Helvetica Neue"/>
              </a:rPr>
              <a:t>shifokor nazorati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7033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7D76"/>
                </a:solidFill>
                <a:latin typeface="Helvetica Neue"/>
              </a:rPr>
              <a:t>Past ishonchli taklif o'zi yoqilmaydi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194560"/>
            <a:ext cx="338328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01000" y="2194560"/>
            <a:ext cx="64008" cy="2286000"/>
          </a:xfrm>
          <a:prstGeom prst="roundRect">
            <a:avLst/>
          </a:prstGeom>
          <a:solidFill>
            <a:srgbClr val="0E6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56032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0E6B58"/>
                </a:solidFill>
                <a:latin typeface="Helvetica Neue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291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31E19"/>
                </a:solidFill>
                <a:latin typeface="Helvetica Neue"/>
              </a:rPr>
              <a:t>ma'lumot sizishi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7033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7D76"/>
                </a:solidFill>
                <a:latin typeface="Helvetica Neue"/>
              </a:rPr>
              <a:t>Audio ham, matn ham qurilmadan chiqmaydi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2920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131E19"/>
                </a:solidFill>
                <a:latin typeface="Helvetica Neue"/>
              </a:rPr>
              <a:t>Xato topilganda test yoziladi. Shuning uchun bir marta tuzatilgan narsa qaytib kelmaydi.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37744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31E19"/>
                </a:solidFill>
                <a:latin typeface="Helvetica Neue"/>
              </a:rPr>
              <a:t>Ishlaydigan tizim, o'lchangan natija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56616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6E7D76"/>
                </a:solidFill>
                <a:latin typeface="Helvetica Neue"/>
              </a:rPr>
              <a:t>Ovozdan formagacha bo'lgan butun yo'l tayyor.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6E7D76"/>
                </a:solidFill>
                <a:latin typeface="Helvetica Neue"/>
              </a:rPr>
              <a:t>Dori nomlarini tanish 62 dan 88 foizga ko'tarildi, modelning o'zi o'zgarmasdan.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7607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6B58"/>
                </a:solidFill>
                <a:latin typeface="Helvetica Neue"/>
              </a:rPr>
              <a:t>github.com/VohidovTohirjon/voice-to-text-openemr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