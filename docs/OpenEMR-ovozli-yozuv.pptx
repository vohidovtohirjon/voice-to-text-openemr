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E6B58"/>
                </a:solidFill>
                <a:latin typeface="Helvetica Neue"/>
              </a:rPr>
              <a:t>OPENEMR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5400" b="1">
                <a:solidFill>
                  <a:srgbClr val="131E19"/>
                </a:solidFill>
                <a:latin typeface="Helvetica Neue"/>
              </a:rPr>
              <a:t>Ovozli tibbiy yozuv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0">
                <a:solidFill>
                  <a:srgbClr val="6E7D76"/>
                </a:solidFill>
                <a:latin typeface="Helvetica Neue"/>
              </a:rPr>
              <a:t>Shifokor gapiradi, forma to'ladi.</a:t>
            </a:r>
          </a:p>
          <a:p>
            <a:pPr algn="l">
              <a:spcAft>
                <a:spcPts val="700"/>
              </a:spcAft>
            </a:pPr>
            <a:r>
              <a:rPr sz="2200" b="0">
                <a:solidFill>
                  <a:srgbClr val="6E7D76"/>
                </a:solidFill>
                <a:latin typeface="Helvetica Neue"/>
              </a:rPr>
              <a:t>Hamma narsa kompyuterning o'zida ishlaydi.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31E19"/>
                </a:solidFill>
                <a:latin typeface="Helvetica Neue"/>
              </a:rPr>
              <a:t>Tohirjon Vohidov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131E19"/>
                </a:solidFill>
                <a:latin typeface="Helvetica Neue"/>
              </a:rPr>
              <a:t>Natija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6E7D76"/>
                </a:solidFill>
                <a:latin typeface="Helvetica Neue"/>
              </a:rPr>
              <a:t>Bitta dikta, tayyor klinik ma'lumot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2971800" cy="1188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64008" cy="118872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0E6B58"/>
                </a:solidFill>
                <a:latin typeface="Helvetica Neue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0720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qiymat ajratildi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057400"/>
            <a:ext cx="2971800" cy="1188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7639" y="2057400"/>
            <a:ext cx="64008" cy="118872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224028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0E6B58"/>
                </a:solidFill>
                <a:latin typeface="Helvetica Neue"/>
              </a:rPr>
              <a:t>96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280720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tahlil vaqti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74720"/>
            <a:ext cx="2971800" cy="1188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474720"/>
            <a:ext cx="64008" cy="118872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576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0E6B58"/>
                </a:solidFill>
                <a:latin typeface="Helvetica Neue"/>
              </a:rPr>
              <a:t>88%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24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dori nomlari to'g'ri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3474720"/>
            <a:ext cx="2971800" cy="1188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77639" y="3474720"/>
            <a:ext cx="64008" cy="118872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79" y="36576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0E6B58"/>
                </a:solidFill>
                <a:latin typeface="Helvetica Neue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4224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bulutga yuborildi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0">
                <a:solidFill>
                  <a:srgbClr val="131E19"/>
                </a:solidFill>
                <a:latin typeface="Helvetica Neue"/>
              </a:rPr>
              <a:t>Shifokor bir marta gapiradi. Tizim shikoyat, ko'rsatkichlar va tashxis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131E19"/>
                </a:solidFill>
                <a:latin typeface="Helvetica Neue"/>
              </a:rPr>
              <a:t>kodini ajratib beradi, lekin tasdiqlanmaguncha hech narsa yozmaydi.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26680" y="2042808"/>
            <a:ext cx="3657600" cy="396110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kran-transkr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88528"/>
            <a:ext cx="3566160" cy="38696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131E19"/>
                </a:solidFill>
                <a:latin typeface="Helvetica Neue"/>
              </a:rPr>
              <a:t>Qanday ishlaydi</a:t>
            </a:r>
          </a:p>
        </p:txBody>
      </p:sp>
      <p:pic>
        <p:nvPicPr>
          <p:cNvPr id="4" name="Picture 3" descr="1-arxitek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39" y="1828800"/>
            <a:ext cx="740664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6E7D76"/>
                </a:solidFill>
                <a:latin typeface="Helvetica Neue"/>
              </a:rPr>
              <a:t>Ovoz ham, matn ham shu kompyuterdan chiqmaydi.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131E19"/>
                </a:solidFill>
                <a:latin typeface="Helvetica Neue"/>
              </a:rPr>
              <a:t>Tizim xatoni o'zi topdi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6E7D76"/>
                </a:solidFill>
                <a:latin typeface="Helvetica Neue"/>
              </a:rPr>
              <a:t>Haqiqiy demodan olingan kadr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6583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131E19"/>
                </a:solidFill>
                <a:latin typeface="Helvetica Neue"/>
              </a:rPr>
              <a:t>Qon bosimini aytganimda Whisper uni noto'g'ri yozdi.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131E19"/>
                </a:solidFill>
                <a:latin typeface="Helvetica Neue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131E19"/>
                </a:solidFill>
                <a:latin typeface="Helvetica Neue"/>
              </a:rPr>
              <a:t>Tizim buni darhol ushladi: bunday qiymat odamda bo'lmaydi,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131E19"/>
                </a:solidFill>
                <a:latin typeface="Helvetica Neue"/>
              </a:rPr>
              <a:t>demak transkripsiya xatosi.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131E19"/>
                </a:solidFill>
                <a:latin typeface="Helvetica Neue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131E19"/>
                </a:solidFill>
                <a:latin typeface="Helvetica Neue"/>
              </a:rPr>
              <a:t>Shu formada faqat bitta maydon bor, tizim uni topdi va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131E19"/>
                </a:solidFill>
                <a:latin typeface="Helvetica Neue"/>
              </a:rPr>
              <a:t>belgiladi. Qolgan qiymatlar OpenEMR'ning boshqa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131E19"/>
                </a:solidFill>
                <a:latin typeface="Helvetica Neue"/>
              </a:rPr>
              <a:t>formalariga tegishli.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257800"/>
            <a:ext cx="658368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5257800"/>
            <a:ext cx="64008" cy="1005840"/>
          </a:xfrm>
          <a:prstGeom prst="roundRect">
            <a:avLst/>
          </a:prstGeom>
          <a:solidFill>
            <a:srgbClr val="A050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544068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A05007"/>
                </a:solidFill>
                <a:latin typeface="Helvetica Neue"/>
              </a:rPr>
              <a:t>Ana shu joyda tizim shunchaki yozib qo'ymaydi. O'ylaydi va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A05007"/>
                </a:solidFill>
                <a:latin typeface="Helvetica Neue"/>
              </a:rPr>
              <a:t>shubhalansa shifokorni ogohlantiradi.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0621" y="1691640"/>
            <a:ext cx="3569717" cy="4846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kran-nati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341" y="1737360"/>
            <a:ext cx="3478277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131E19"/>
                </a:solidFill>
                <a:latin typeface="Helvetica Neue"/>
              </a:rPr>
              <a:t>Eng qiyin masala: dori nomlari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6E7D76"/>
                </a:solidFill>
                <a:latin typeface="Helvetica Neue"/>
              </a:rPr>
              <a:t>Modelni qayta o'qitish oylab vaqt olardi. Dekoderni sozlab hal qildim.</a:t>
            </a:r>
          </a:p>
        </p:txBody>
      </p:sp>
      <p:pic>
        <p:nvPicPr>
          <p:cNvPr id="5" name="Picture 4" descr="5-dori-tuzat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508" y="1965960"/>
            <a:ext cx="805450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131E19"/>
                </a:solidFill>
                <a:latin typeface="Helvetica Neue"/>
              </a:rPr>
              <a:t>Nega shunday qurdim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106070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64008" cy="114300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31343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31E19"/>
                </a:solidFill>
                <a:latin typeface="Helvetica Neue"/>
              </a:rPr>
              <a:t>Bulut o'rniga lokal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7523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6E7D76"/>
                </a:solidFill>
                <a:latin typeface="Helvetica Neue"/>
              </a:rPr>
              <a:t>Bulutli xizmatlar biroz aniqroq tanirdi, lekin bemor ovozi tashqariga chiqardi.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20440"/>
            <a:ext cx="106070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64008" cy="114300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68503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31E19"/>
                </a:solidFill>
                <a:latin typeface="Helvetica Neue"/>
              </a:rPr>
              <a:t>Qayta o'qitish o'rniga sozlash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1239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6E7D76"/>
                </a:solidFill>
                <a:latin typeface="Helvetica Neue"/>
              </a:rPr>
              <a:t>O'qitish oylab vaqt va katta ma'lumot talab qilardi. Sozlash bilan 62 dan 88 foizga chiqdim.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892040"/>
            <a:ext cx="106070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4892040"/>
            <a:ext cx="64008" cy="114300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5056631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31E19"/>
                </a:solidFill>
                <a:latin typeface="Helvetica Neue"/>
              </a:rPr>
              <a:t>Til modeli o'rniga oddiy usul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54955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6E7D76"/>
                </a:solidFill>
                <a:latin typeface="Helvetica Neue"/>
              </a:rPr>
              <a:t>Tashxis kodiga til modeli qo'yish mumkin edi. Oddiy usul tezroq ishladi va qaysi so'z sabab bo'lganini ko'rsatadi.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A05007"/>
                </a:solidFill>
                <a:latin typeface="Helvetica Neue"/>
              </a:rPr>
              <a:t>Har bir tanlovda tezlik va tushuntirib bera olish muhimroq bo'ldi.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200" b="1">
                <a:solidFill>
                  <a:srgbClr val="131E19"/>
                </a:solidFill>
                <a:latin typeface="Helvetica Neue"/>
              </a:rPr>
              <a:t>Ishonchlilik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33832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286000"/>
            <a:ext cx="64008" cy="219456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63347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800" b="1">
                <a:solidFill>
                  <a:srgbClr val="0E6B58"/>
                </a:solidFill>
                <a:latin typeface="Helvetica Neue"/>
              </a:rP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3649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31E19"/>
                </a:solidFill>
                <a:latin typeface="Helvetica Neue"/>
              </a:rPr>
              <a:t>avtomatik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76732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Bir marta tuzatilgan xato qaytib kelmaydi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3832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2286000"/>
            <a:ext cx="64008" cy="219456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263347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800" b="1">
                <a:solidFill>
                  <a:srgbClr val="0E6B58"/>
                </a:solidFill>
                <a:latin typeface="Helvetica Neue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33649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31E19"/>
                </a:solidFill>
                <a:latin typeface="Helvetica Neue"/>
              </a:rPr>
              <a:t>shifokor nazorati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376732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Past ishonchli taklif o'zi yoqilmaydi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286000"/>
            <a:ext cx="33832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1000" y="2286000"/>
            <a:ext cx="64008" cy="2194560"/>
          </a:xfrm>
          <a:prstGeom prst="roundRect">
            <a:avLst/>
          </a:prstGeom>
          <a:solidFill>
            <a:srgbClr val="0E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263347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3800" b="1">
                <a:solidFill>
                  <a:srgbClr val="0E6B58"/>
                </a:solidFill>
                <a:latin typeface="Helvetica Neue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3649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31E19"/>
                </a:solidFill>
                <a:latin typeface="Helvetica Neue"/>
              </a:rPr>
              <a:t>ma'lumot sizishi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376732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E7D76"/>
                </a:solidFill>
                <a:latin typeface="Helvetica Neue"/>
              </a:rPr>
              <a:t>Audio ham, matn ham qurilmada qoladi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31E19"/>
                </a:solidFill>
                <a:latin typeface="Helvetica Neue"/>
              </a:rPr>
              <a:t>Ovozdan formagacha bo'lgan butun yo'l tayyor va sinovdan o'tgan.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E6B58"/>
                </a:solidFill>
                <a:latin typeface="Helvetica Neue"/>
              </a:rPr>
              <a:t>github.com/VohidovTohirjon/voice-to-text-openemr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